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a103f883ff5441b" /><Relationship Type="http://schemas.openxmlformats.org/officeDocument/2006/relationships/extended-properties" Target="/docProps/app.xml" Id="R0ae35fe9ef554e88" /><Relationship Type="http://schemas.openxmlformats.org/officeDocument/2006/relationships/officeDocument" Target="/ppt/presentation.xml" Id="R9de8db72f6104a7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c2077abc49b413f"/>
  </p:sldMasterIdLst>
  <p:notesMasterIdLst>
    <p:notesMasterId xmlns:r="http://schemas.openxmlformats.org/officeDocument/2006/relationships" r:id="R745dc55093204e1f"/>
  </p:notesMasterIdLst>
  <p:sldIdLst>
    <p:sldId xmlns:r="http://schemas.openxmlformats.org/officeDocument/2006/relationships" id="256" r:id="Rd0c67d61acc746c4"/>
    <p:sldId xmlns:r="http://schemas.openxmlformats.org/officeDocument/2006/relationships" id="257" r:id="Rd55b234454cb4276"/>
    <p:sldId xmlns:r="http://schemas.openxmlformats.org/officeDocument/2006/relationships" id="258" r:id="R69c397989f914ea8"/>
    <p:sldId xmlns:r="http://schemas.openxmlformats.org/officeDocument/2006/relationships" id="259" r:id="Reda5c02fbdf64acc"/>
    <p:sldId xmlns:r="http://schemas.openxmlformats.org/officeDocument/2006/relationships" id="260" r:id="R63d1d282f7ea4d28"/>
    <p:sldId xmlns:r="http://schemas.openxmlformats.org/officeDocument/2006/relationships" id="261" r:id="Rd8dac80345f34560"/>
    <p:sldId xmlns:r="http://schemas.openxmlformats.org/officeDocument/2006/relationships" id="262" r:id="R95d91f2b87904466"/>
    <p:sldId xmlns:r="http://schemas.openxmlformats.org/officeDocument/2006/relationships" id="263" r:id="R8508afc92b8c4e29"/>
    <p:sldId xmlns:r="http://schemas.openxmlformats.org/officeDocument/2006/relationships" id="264" r:id="R2fd37fd4d64f446c"/>
    <p:sldId xmlns:r="http://schemas.openxmlformats.org/officeDocument/2006/relationships" id="265" r:id="R55b974ce578d4cb6"/>
    <p:sldId xmlns:r="http://schemas.openxmlformats.org/officeDocument/2006/relationships" id="266" r:id="R4b4f61d3d96b4716"/>
    <p:sldId xmlns:r="http://schemas.openxmlformats.org/officeDocument/2006/relationships" id="267" r:id="R7e4c0c905aad404a"/>
    <p:sldId xmlns:r="http://schemas.openxmlformats.org/officeDocument/2006/relationships" id="268" r:id="R4730f8773e564f0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f89333a4b1b49a8" /><Relationship Type="http://schemas.openxmlformats.org/officeDocument/2006/relationships/slideMaster" Target="/ppt/slideMasters/slideMaster1.xml" Id="R3c2077abc49b413f" /><Relationship Type="http://schemas.openxmlformats.org/officeDocument/2006/relationships/notesMaster" Target="/ppt/notesMasters/notesMaster1.xml" Id="R745dc55093204e1f" /><Relationship Type="http://schemas.openxmlformats.org/officeDocument/2006/relationships/presProps" Target="/ppt/presProps.xml" Id="Ra79b8aff2e444f47" /><Relationship Type="http://schemas.openxmlformats.org/officeDocument/2006/relationships/tableStyles" Target="/ppt/tableStyles.xml" Id="R2bae6871b8c2421b" /><Relationship Type="http://schemas.openxmlformats.org/officeDocument/2006/relationships/slide" Target="/ppt/slides/slide1.xml" Id="Rd0c67d61acc746c4" /><Relationship Type="http://schemas.openxmlformats.org/officeDocument/2006/relationships/slide" Target="/ppt/slides/slide2.xml" Id="Rd55b234454cb4276" /><Relationship Type="http://schemas.openxmlformats.org/officeDocument/2006/relationships/slide" Target="/ppt/slides/slide3.xml" Id="R69c397989f914ea8" /><Relationship Type="http://schemas.openxmlformats.org/officeDocument/2006/relationships/slide" Target="/ppt/slides/slide4.xml" Id="Reda5c02fbdf64acc" /><Relationship Type="http://schemas.openxmlformats.org/officeDocument/2006/relationships/slide" Target="/ppt/slides/slide5.xml" Id="R63d1d282f7ea4d28" /><Relationship Type="http://schemas.openxmlformats.org/officeDocument/2006/relationships/slide" Target="/ppt/slides/slide6.xml" Id="Rd8dac80345f34560" /><Relationship Type="http://schemas.openxmlformats.org/officeDocument/2006/relationships/slide" Target="/ppt/slides/slide7.xml" Id="R95d91f2b87904466" /><Relationship Type="http://schemas.openxmlformats.org/officeDocument/2006/relationships/slide" Target="/ppt/slides/slide8.xml" Id="R8508afc92b8c4e29" /><Relationship Type="http://schemas.openxmlformats.org/officeDocument/2006/relationships/slide" Target="/ppt/slides/slide9.xml" Id="R2fd37fd4d64f446c" /><Relationship Type="http://schemas.openxmlformats.org/officeDocument/2006/relationships/slide" Target="/ppt/slides/slide10.xml" Id="R55b974ce578d4cb6" /><Relationship Type="http://schemas.openxmlformats.org/officeDocument/2006/relationships/slide" Target="/ppt/slides/slide11.xml" Id="R4b4f61d3d96b4716" /><Relationship Type="http://schemas.openxmlformats.org/officeDocument/2006/relationships/slide" Target="/ppt/slides/slide12.xml" Id="R7e4c0c905aad404a" /><Relationship Type="http://schemas.openxmlformats.org/officeDocument/2006/relationships/slide" Target="/ppt/slides/slide13.xml" Id="R4730f8773e564f0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c4b4cc7867849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27b743d07d4125" /><Relationship Type="http://schemas.openxmlformats.org/officeDocument/2006/relationships/notesMaster" Target="/ppt/notesMasters/notesMaster1.xml" Id="Rde52d71069714d6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ede29dcb6eb47e3" /><Relationship Type="http://schemas.openxmlformats.org/officeDocument/2006/relationships/notesMaster" Target="/ppt/notesMasters/notesMaster1.xml" Id="R158f0dd9b28b4a1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3be22ae18d7401d" /><Relationship Type="http://schemas.openxmlformats.org/officeDocument/2006/relationships/notesMaster" Target="/ppt/notesMasters/notesMaster1.xml" Id="R9be90d123b4f4ac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74316d8de624162" /><Relationship Type="http://schemas.openxmlformats.org/officeDocument/2006/relationships/notesMaster" Target="/ppt/notesMasters/notesMaster1.xml" Id="R2728ce1da2b2408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0045a1e8cac4ef5" /><Relationship Type="http://schemas.openxmlformats.org/officeDocument/2006/relationships/notesMaster" Target="/ppt/notesMasters/notesMaster1.xml" Id="R8a563258c6bb4b3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48fa01a3afc4fbf" /><Relationship Type="http://schemas.openxmlformats.org/officeDocument/2006/relationships/notesMaster" Target="/ppt/notesMasters/notesMaster1.xml" Id="R411b4ee0191948e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81455b819934821" /><Relationship Type="http://schemas.openxmlformats.org/officeDocument/2006/relationships/notesMaster" Target="/ppt/notesMasters/notesMaster1.xml" Id="R97114fc8fb984f7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c3d09e19b294411" /><Relationship Type="http://schemas.openxmlformats.org/officeDocument/2006/relationships/notesMaster" Target="/ppt/notesMasters/notesMaster1.xml" Id="R238c62fedd58440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06bf64fd5c149f4" /><Relationship Type="http://schemas.openxmlformats.org/officeDocument/2006/relationships/notesMaster" Target="/ppt/notesMasters/notesMaster1.xml" Id="R35c820af962c470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63061d813c54df7" /><Relationship Type="http://schemas.openxmlformats.org/officeDocument/2006/relationships/notesMaster" Target="/ppt/notesMasters/notesMaster1.xml" Id="Rd0f533d0b17e473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72fa1265b3f4a08" /><Relationship Type="http://schemas.openxmlformats.org/officeDocument/2006/relationships/notesMaster" Target="/ppt/notesMasters/notesMaster1.xml" Id="Rc5c01a06af4c421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81857db980f4035" /><Relationship Type="http://schemas.openxmlformats.org/officeDocument/2006/relationships/notesMaster" Target="/ppt/notesMasters/notesMaster1.xml" Id="R574cedc642a84ed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77ff96cebd64af5" /><Relationship Type="http://schemas.openxmlformats.org/officeDocument/2006/relationships/notesMaster" Target="/ppt/notesMasters/notesMaster1.xml" Id="Rdd93d70933af412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코드와 reports/claim-guard-reviewed-v2.json. 발표 기준 2026-10-21.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코드와 reports/claim-guard-reviewed-v2.json. 발표 기준 2026-10-21.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코드와 reports/claim-guard-reviewed-v2.json. 발표 기준 2026-10-21.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코드와 reports/claim-guard-reviewed-v2.json. 발표 기준 2026-10-21.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코드와 reports/claim-guard-reviewed-v2.json. 발표 기준 2026-10-21.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코드와 reports/claim-guard-reviewed-v2.json. 발표 기준 2026-10-21.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코드와 reports/claim-guard-reviewed-v2.json. 발표 기준 2026-10-21.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reports/docker-openai-live-v1.md / reports/docker-openai-live-summary-v1.json. 2026-10-22.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reports/release-evaluation-v1.json.</a:t>
            </a:r>
          </a:p>
          <a:p xmlns:a="http://schemas.openxmlformats.org/drawingml/2006/main">
            <a:r>
              <a:t>근거: 프로젝트 코드와 reports/claim-guard-reviewed-v2.json. 발표 기준 2026-10-21.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코드와 reports/claim-guard-reviewed-v2.json. 발표 기준 2026-10-21.</a:t>
            </a:r>
          </a:p>
          <a:p xmlns:a="http://schemas.openxmlformats.org/drawingml/2006/main">
            <a:r>
              <a:t>Docker 구성: compose.yaml, Dockerfile. Python 테스트 가상환경·컨테이너 각각 211개.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reports/docker-openai-live-summary-v1.json, reports/assets/docker-final-flow.jpg.</a:t>
            </a:r>
          </a:p>
          <a:p xmlns:a="http://schemas.openxmlformats.org/drawingml/2006/main">
            <a:r>
              <a:t>근거: reports/docker-openai-live-v1.md / reports/docker-openai-live-summary-v1.json. 2026-10-22.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reports/claim-guard-reviewed-v2.json, tools/log_evaluation_mlflow.py. MLflow REST API: https://mlflow.org/docs/latest/api_reference/rest-api.html</a:t>
            </a:r>
          </a:p>
          <a:p xmlns:a="http://schemas.openxmlformats.org/drawingml/2006/main">
            <a:r>
              <a:t>근거: 프로젝트 코드와 reports/claim-guard-reviewed-v2.json. 발표 기준 2026-10-21.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docs/visual-design.md, reports/assets/visual-after-map.jpg, reports/assets/visual-mobile-map.jpg.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793390a10647a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5d7887ac404a8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6748b4c4a14f0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afd8abad4c45f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366bfe03be48a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c3c94da7c5467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E464584-17E3-49EC-80BD-93906E46DA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FAE51D1-2BC6-4107-A191-DACC534453D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CD2EA4D-60D0-4DEE-969D-87EF5C6199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5039F99-4AB7-40A9-A8A8-91E969F4FE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C3ACF5D-527D-4644-B714-ABB046F0B1E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07C1483-3945-4989-816D-77312A1300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1069101-2E32-4964-932B-CE599052CF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ED3CB1C-9B93-4787-8998-05D516621BF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3A0E333-D4B8-436A-B756-E71D7A40C2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91A73F5-B802-4375-9D4A-7EC5BFAC2D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fdc2d01917c4206" /><Relationship Type="http://schemas.openxmlformats.org/officeDocument/2006/relationships/slideLayout" Target="/ppt/slideLayouts/slideLayout1.xml" Id="R45cbd934ac4f439a" /><Relationship Type="http://schemas.openxmlformats.org/officeDocument/2006/relationships/slideLayout" Target="/ppt/slideLayouts/slideLayout2.xml" Id="Rc3c71d0e78ff4a41" /><Relationship Type="http://schemas.openxmlformats.org/officeDocument/2006/relationships/slideLayout" Target="/ppt/slideLayouts/slideLayout3.xml" Id="R27b9e4630767439f" /><Relationship Type="http://schemas.openxmlformats.org/officeDocument/2006/relationships/slideLayout" Target="/ppt/slideLayouts/slideLayout4.xml" Id="R60d5af71cf7848d5" /><Relationship Type="http://schemas.openxmlformats.org/officeDocument/2006/relationships/slideLayout" Target="/ppt/slideLayouts/slideLayout5.xml" Id="Rc1cce11d328740df" /><Relationship Type="http://schemas.openxmlformats.org/officeDocument/2006/relationships/slideLayout" Target="/ppt/slideLayouts/slideLayout6.xml" Id="R460727a6c51746d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cbd934ac4f439a"/>
    <p:sldLayoutId xmlns:r="http://schemas.openxmlformats.org/officeDocument/2006/relationships" id="2147483650" r:id="Rc3c71d0e78ff4a41"/>
    <p:sldLayoutId xmlns:r="http://schemas.openxmlformats.org/officeDocument/2006/relationships" id="2147483651" r:id="R27b9e4630767439f"/>
    <p:sldLayoutId xmlns:r="http://schemas.openxmlformats.org/officeDocument/2006/relationships" id="2147483652" r:id="R60d5af71cf7848d5"/>
    <p:sldLayoutId xmlns:r="http://schemas.openxmlformats.org/officeDocument/2006/relationships" id="2147483653" r:id="Rc1cce11d328740df"/>
    <p:sldLayoutId xmlns:r="http://schemas.openxmlformats.org/officeDocument/2006/relationships" id="2147483654" r:id="R460727a6c51746d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7012545f334cda" /><Relationship Type="http://schemas.openxmlformats.org/officeDocument/2006/relationships/notesSlide" Target="/ppt/notesSlides/notesSlide1.xml" Id="Re94e018ad5d2457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9eed4c236446b3" /><Relationship Type="http://schemas.openxmlformats.org/officeDocument/2006/relationships/notesSlide" Target="/ppt/notesSlides/notesSlide2.xml" Id="Rcbd3706d2c144b0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fbbe5656c84ad2" /><Relationship Type="http://schemas.openxmlformats.org/officeDocument/2006/relationships/image" Target="/ppt/media/image.jpeg" Id="R79bb5c2151ab4ebb" /><Relationship Type="http://schemas.openxmlformats.org/officeDocument/2006/relationships/image" Target="/ppt/media/image2.jpeg" Id="Rd9b8c0db806448e0" /><Relationship Type="http://schemas.openxmlformats.org/officeDocument/2006/relationships/notesSlide" Target="/ppt/notesSlides/notesSlide3.xml" Id="Rc00a6619d0af4d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ddf60533974f65" /><Relationship Type="http://schemas.openxmlformats.org/officeDocument/2006/relationships/notesSlide" Target="/ppt/notesSlides/notesSlide4.xml" Id="R403bdaeccfc648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d974d424bb45ce" /><Relationship Type="http://schemas.openxmlformats.org/officeDocument/2006/relationships/notesSlide" Target="/ppt/notesSlides/notesSlide5.xml" Id="R798a771bf4dc4f4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86e9748a6a4b64" /><Relationship Type="http://schemas.openxmlformats.org/officeDocument/2006/relationships/notesSlide" Target="/ppt/notesSlides/notesSlide6.xml" Id="R334c200b423141f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c0dad2af5342be" /><Relationship Type="http://schemas.openxmlformats.org/officeDocument/2006/relationships/notesSlide" Target="/ppt/notesSlides/notesSlide7.xml" Id="Rf7c22d35d6c4490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3b9725a73f468c" /><Relationship Type="http://schemas.openxmlformats.org/officeDocument/2006/relationships/image" Target="/ppt/media/image3.jpeg" Id="R5b1a0429646d43a8" /><Relationship Type="http://schemas.openxmlformats.org/officeDocument/2006/relationships/notesSlide" Target="/ppt/notesSlides/notesSlide8.xml" Id="Rdabd82ce9f09494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e1eb3086904d91" /><Relationship Type="http://schemas.openxmlformats.org/officeDocument/2006/relationships/image" Target="/ppt/media/image4.jpeg" Id="Rae4440750cfa4d2c" /><Relationship Type="http://schemas.openxmlformats.org/officeDocument/2006/relationships/notesSlide" Target="/ppt/notesSlides/notesSlide9.xml" Id="R9cbd99c2b3cf4aa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c252f444c44023" /><Relationship Type="http://schemas.openxmlformats.org/officeDocument/2006/relationships/notesSlide" Target="/ppt/notesSlides/notesSlide10.xml" Id="R7a6ac4e872c7461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c8194d8fad49fd" /><Relationship Type="http://schemas.openxmlformats.org/officeDocument/2006/relationships/image" Target="/ppt/media/image5.jpeg" Id="R24a54802491a47d7" /><Relationship Type="http://schemas.openxmlformats.org/officeDocument/2006/relationships/notesSlide" Target="/ppt/notesSlides/notesSlide11.xml" Id="R80423d87b93a4d5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3388986fb14ef2" /><Relationship Type="http://schemas.openxmlformats.org/officeDocument/2006/relationships/image" Target="/ppt/media/image6.jpeg" Id="R14ec3e6151844789" /><Relationship Type="http://schemas.openxmlformats.org/officeDocument/2006/relationships/notesSlide" Target="/ppt/notesSlides/notesSlide12.xml" Id="R31605ac68b3a48e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302e7124154ef3" /><Relationship Type="http://schemas.openxmlformats.org/officeDocument/2006/relationships/image" Target="/ppt/media/image7.jpeg" Id="R71f2185c667b4149" /><Relationship Type="http://schemas.openxmlformats.org/officeDocument/2006/relationships/image" Target="/ppt/media/image8.jpeg" Id="Rce348aa1746f4cfe" /><Relationship Type="http://schemas.openxmlformats.org/officeDocument/2006/relationships/notesSlide" Target="/ppt/notesSlides/notesSlide13.xml" Id="Raf56ae98986e470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F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61D969-61BC-4198-8B9A-32A86D899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G075 김지원  ·  1/13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BAA0E3-17DD-4D24-B961-73E1BC24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5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66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66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6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rPr>
              <a:t>밤의 증언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C816C5-8230-48D9-BE18-5A7DF245A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670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75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2775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개인 기억과 근거 검증을 갖춘 AI 추리 게임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CE4599-A42B-4C02-8FF5-ABB68ADA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43375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rPr>
              <a:t>과제 2 · 신규 프로젝트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F413CC-DE32-4262-B5AD-A34F981CE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196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rPr>
              <a:t>G075 김지원</a:t>
            </a:r>
          </a:p>
        </p:txBody>
      </p:sp>
    </p:spTree>
    <p:extLst>
      <p:ext uri="{BB962C8B-B14F-4D97-AF65-F5344CB8AC3E}">
        <p14:creationId xmlns:p14="http://schemas.microsoft.com/office/powerpoint/2010/main" val="19460383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1F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180F5F-8FD0-4DC6-B4BD-33BDD9A8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rPr>
              <a:t>주제와 주요 AI task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004082-0F6D-4C68-BB1E-4DA1825BB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G075 김지원  ·  2/13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73C98E-C8D4-489B-9704-F36157EA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5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2250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rPr>
              <a:t>AI가 아는 정보의 범위와, 주장을 믿을 근거를 코드로 관리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FF3574-6265-48C5-9095-FF08F77CB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2325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rPr>
              <a:t>01  참가자별 역할·관측·개인 판단 분리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DBFB7E-77FE-4BDB-8F5C-E07FD7E0A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2325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rPr>
              <a:t>02  MCP로 권한이 있는 기억만 조회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38B808-B792-4475-8347-5245E2397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2325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rPr>
              <a:t>03  RAG로 질문에 필요한 기록 선택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7CACBA-7F4A-4A3D-8BB3-F63474CCB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2325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rPr>
              <a:t>04  핵심 주장 검증과 제한된 재검색·재작성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BED9E9-8C75-4E2E-906F-94327293D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387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2325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rPr>
              <a:t>05  운영 모니터·MLflow 실험 비교·장애 대응</a:t>
            </a:r>
          </a:p>
        </p:txBody>
      </p:sp>
    </p:spTree>
    <p:extLst>
      <p:ext uri="{BB962C8B-B14F-4D97-AF65-F5344CB8AC3E}">
        <p14:creationId xmlns:p14="http://schemas.microsoft.com/office/powerpoint/2010/main" val="12483756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1F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8BA77A-CB05-422F-890F-8A9632720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rPr>
              <a:t>게임 구현 실행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8DFF54-6673-4037-AB5C-F1BF89CD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G075 김지원  ·  3/13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12B278-1EB8-4A84-94E4-C04133667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rPr>
              <a:t>실제 OpenAI 게임 실행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590378-0808-44C1-AE58-E2F8246A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rPr>
              <a:t>사람의 질문 → AI의 공개 답변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254B88-8C8E-4728-ACB7-EA06E9885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rPr>
              <a:t>역할·개인 기억은 참가자별 분리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E59CE4-AC38-474A-91D9-525F1ECE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rPr>
              <a:t>공개 가능한 인용만 화면에 표시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1D3E7B-B0CF-480E-8DFF-1A263E6F5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자유 발언의 화자·위치 해석 오류는 남아 있음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81F832-063C-48DE-813B-7A0D2F3187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bb5c2151ab4ebb"/>
          <a:stretch xmlns:a="http://schemas.openxmlformats.org/drawingml/2006/main"/>
        </p:blipFill>
        <p:spPr>
          <a:xfrm xmlns:a="http://schemas.openxmlformats.org/drawingml/2006/main">
            <a:off x="6000750" y="1748450"/>
            <a:ext cx="2524125" cy="3951651"/>
          </a:xfrm>
          <a:prstGeom xmlns:a="http://schemas.openxmlformats.org/drawingml/2006/main" prst="rect">
            <a:avLst/>
          </a:prstGeom>
        </p:spPr>
      </p:pic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71469C-11EC-443A-84FD-708FDC06BF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b8c0db806448e0"/>
          <a:stretch xmlns:a="http://schemas.openxmlformats.org/drawingml/2006/main"/>
        </p:blipFill>
        <p:spPr>
          <a:xfrm xmlns:a="http://schemas.openxmlformats.org/drawingml/2006/main">
            <a:off x="8820150" y="1748450"/>
            <a:ext cx="2524125" cy="395165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797699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1F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033F97-F051-47D1-86F6-1E2270783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rPr>
              <a:t>같은 입력의 최신 검증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658BC9-AEB7-4EA9-B588-84B257E3F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G075 김지원  ·  4/13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60BB10-85D1-4A88-BAEC-E01392AC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코드 동결 후 확인한 합성 입력 22건 · 생성 24건 중 조건 위반 2건 제외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45400C-38A5-4877-93C7-E597BF6E25B4}"/>
              </a:ext>
            </a:extLst>
          </p:cNvPr>
          <p:cNvGraphicFramePr/>
          <p:nvPr/>
        </p:nvGraphicFramePr>
        <p:xfrm>
          <a:off xmlns:a="http://schemas.openxmlformats.org/drawingml/2006/main" x="609600" y="1781175"/>
          <a:ext xmlns:a="http://schemas.openxmlformats.org/drawingml/2006/main" cx="10972800" cy="3086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143500"/>
                <a:gridCol w="2914650"/>
                <a:gridCol w="2914650"/>
              </a:tblGrid>
              <a:tr h="514350">
                <a:tc>
                  <a:txBody>
                    <a:bodyPr lIns="114300" tIns="114300" rIns="114300" bIns="114300"/>
                    <a:lstStyle/>
                    <a:p>
                      <a:r>
                        <a:rPr sz="1875" b="1">
                          <a:solidFill>
                            <a:srgbClr val="E2C28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지표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45057"/>
                      </a:solidFill>
                      <a:prstDash val="solid"/>
                    </a:lnL>
                    <a:lnR w="9525">
                      <a:solidFill>
                        <a:srgbClr val="345057"/>
                      </a:solidFill>
                      <a:prstDash val="solid"/>
                    </a:lnR>
                    <a:lnT w="9525">
                      <a:solidFill>
                        <a:srgbClr val="345057"/>
                      </a:solidFill>
                      <a:prstDash val="solid"/>
                    </a:lnT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223A43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1">
                          <a:solidFill>
                            <a:srgbClr val="E2C28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이전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T w="9525">
                      <a:solidFill>
                        <a:srgbClr val="345057"/>
                      </a:solidFill>
                      <a:prstDash val="solid"/>
                    </a:lnT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223A43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1">
                          <a:solidFill>
                            <a:srgbClr val="E2C28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개선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T w="9525">
                      <a:solidFill>
                        <a:srgbClr val="345057"/>
                      </a:solidFill>
                      <a:prstDash val="solid"/>
                    </a:lnT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223A43"/>
                    </a:solidFill>
                  </a:tcPr>
                </a:tc>
              </a:tr>
              <a:tr h="514350"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올바른 판정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45057"/>
                      </a:solidFill>
                      <a:prstDash val="solid"/>
                    </a:lnL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10/22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18/22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</a:tr>
              <a:tr h="514350"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정상 발언 오차단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45057"/>
                      </a:solidFill>
                      <a:prstDash val="solid"/>
                    </a:lnL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3/11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3/11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</a:tr>
              <a:tr h="514350"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근거 없는 단정 누락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45057"/>
                      </a:solidFill>
                      <a:prstDash val="solid"/>
                    </a:lnL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9/11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1/11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</a:tr>
              <a:tr h="514350"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단정 수정 재시도 합계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45057"/>
                      </a:solidFill>
                      <a:prstDash val="solid"/>
                    </a:lnL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10회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</a:tr>
              <a:tr h="514350"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검사 시간 · 사례별 중앙값 평균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45057"/>
                      </a:solidFill>
                      <a:prstDash val="solid"/>
                    </a:lnL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0.0091 ms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0.0150 ms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3B18C5-14B1-4F79-8E1C-59612D1D1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2025" b="1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rPr>
              <a:t>추가 검증 LLM 0회 · 정상 오차단은 남음 · 수정 호출 비용 증가 가능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C9FB03-DFEC-489F-8A6F-3A6935B8B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고정 출력 재생 평가. 실제 게임 승률·API 지연이 아님. 검토자는 구현 에이전트.</a:t>
            </a:r>
          </a:p>
        </p:txBody>
      </p:sp>
    </p:spTree>
    <p:extLst>
      <p:ext uri="{BB962C8B-B14F-4D97-AF65-F5344CB8AC3E}">
        <p14:creationId xmlns:p14="http://schemas.microsoft.com/office/powerpoint/2010/main" val="1228720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1F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5F144D-5F1C-4E1D-ABB4-1A29781F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rPr>
              <a:t>Agent Graph와 제한 재시도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50E601-5C7A-4539-929F-3EB18319B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G075 김지원  ·  5/13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90AB08-67A7-4896-91B9-C0C19E22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90625"/>
            <a:ext cx="1095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rPr>
              <a:t>기억 검색 → 생성 → 근거 검증 → 완료 / 재검색 / 재작성 / 기권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F1FFAA-F5D6-4D4F-AEC0-932D09863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28825"/>
            <a:ext cx="10972800" cy="3190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F0F3E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F0F3E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0F3EF"/>
                </a:solidFill>
                <a:latin typeface="Menlo"/>
                <a:ea typeface="Menlo"/>
                <a:cs typeface="Menlo"/>
              </a:rPr>
              <a:t>graph.add_node("memory", select)</a:t>
            </a:r>
          </a:p>
          <a:p xmlns:a="http://schemas.openxmlformats.org/drawingml/2006/main">
            <a:pPr>
              <a:buNone/>
              <a:defRPr sz="1725" b="0">
                <a:solidFill>
                  <a:srgbClr val="F0F3E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0F3EF"/>
                </a:solidFill>
                <a:latin typeface="Menlo"/>
                <a:ea typeface="Menlo"/>
                <a:cs typeface="Menlo"/>
              </a:rPr>
              <a:t>graph.add_node("generate", generate)</a:t>
            </a:r>
          </a:p>
          <a:p xmlns:a="http://schemas.openxmlformats.org/drawingml/2006/main">
            <a:pPr>
              <a:buNone/>
              <a:defRPr sz="1725" b="0">
                <a:solidFill>
                  <a:srgbClr val="F0F3E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0F3EF"/>
                </a:solidFill>
                <a:latin typeface="Menlo"/>
                <a:ea typeface="Menlo"/>
                <a:cs typeface="Menlo"/>
              </a:rPr>
              <a:t>graph.add_node("validate_evidence", validate_evidence)</a:t>
            </a:r>
          </a:p>
          <a:p xmlns:a="http://schemas.openxmlformats.org/drawingml/2006/main">
            <a:pPr>
              <a:buNone/>
              <a:defRPr sz="1725" b="0">
                <a:solidFill>
                  <a:srgbClr val="F0F3E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0F3EF"/>
                </a:solidFill>
                <a:latin typeface="Menlo"/>
                <a:ea typeface="Menlo"/>
                <a:cs typeface="Menlo"/>
              </a:rPr>
              <a:t>graph.add_node("research", research)</a:t>
            </a:r>
          </a:p>
          <a:p xmlns:a="http://schemas.openxmlformats.org/drawingml/2006/main">
            <a:pPr>
              <a:buNone/>
              <a:defRPr sz="1725" b="0">
                <a:solidFill>
                  <a:srgbClr val="F0F3E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0F3EF"/>
                </a:solidFill>
                <a:latin typeface="Menlo"/>
                <a:ea typeface="Menlo"/>
                <a:cs typeface="Menlo"/>
              </a:rPr>
              <a:t>graph.add_node("repair", repair)</a:t>
            </a:r>
          </a:p>
          <a:p xmlns:a="http://schemas.openxmlformats.org/drawingml/2006/main">
            <a:pPr>
              <a:buNone/>
              <a:defRPr sz="1725" b="0">
                <a:solidFill>
                  <a:srgbClr val="F0F3E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0F3EF"/>
                </a:solidFill>
                <a:latin typeface="Menlo"/>
                <a:ea typeface="Menlo"/>
                <a:cs typeface="Menlo"/>
              </a:rPr>
              <a:t>graph.add_conditional_edges(</a:t>
            </a:r>
          </a:p>
          <a:p xmlns:a="http://schemas.openxmlformats.org/drawingml/2006/main">
            <a:pPr>
              <a:buNone/>
              <a:defRPr sz="1725" b="0">
                <a:solidFill>
                  <a:srgbClr val="F0F3E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0F3EF"/>
                </a:solidFill>
                <a:latin typeface="Menlo"/>
                <a:ea typeface="Menlo"/>
                <a:cs typeface="Menlo"/>
              </a:rPr>
              <a:t>    "validate_evidence", after_validation,</a:t>
            </a:r>
          </a:p>
          <a:p xmlns:a="http://schemas.openxmlformats.org/drawingml/2006/main">
            <a:pPr>
              <a:buNone/>
              <a:defRPr sz="1725" b="0">
                <a:solidFill>
                  <a:srgbClr val="F0F3E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0F3EF"/>
                </a:solidFill>
                <a:latin typeface="Menlo"/>
                <a:ea typeface="Menlo"/>
                <a:cs typeface="Menlo"/>
              </a:rPr>
              <a:t>    {"done": END, "research": "research",</a:t>
            </a:r>
          </a:p>
          <a:p xmlns:a="http://schemas.openxmlformats.org/drawingml/2006/main">
            <a:pPr>
              <a:buNone/>
              <a:defRPr sz="1725" b="0">
                <a:solidFill>
                  <a:srgbClr val="F0F3E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0F3EF"/>
                </a:solidFill>
                <a:latin typeface="Menlo"/>
                <a:ea typeface="Menlo"/>
                <a:cs typeface="Menlo"/>
              </a:rPr>
              <a:t>     "repair": "repair", "fallback": "fallback"})</a:t>
            </a:r>
          </a:p>
          <a:p xmlns:a="http://schemas.openxmlformats.org/drawingml/2006/main">
            <a:pPr>
              <a:buNone/>
              <a:defRPr sz="1725" b="0">
                <a:solidFill>
                  <a:srgbClr val="F0F3E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F0F3EF"/>
                </a:solidFill>
                <a:latin typeface="Menlo"/>
                <a:ea typeface="Menlo"/>
                <a:cs typeface="Menlo"/>
              </a:rPr>
              <a:t>return graph.compile()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E209EA-2323-42D8-8D47-0797E51AD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공통 그래프는 1회 컴파일 · 관측/상태는 매 판단 분리 · 생성 ≤3회, 재검색 ≤2회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83EFA0-D8C1-4D6B-882A-FD8285974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game/decision.py · build_graph 발췌, 줄바꿈 조정</a:t>
            </a:r>
          </a:p>
        </p:txBody>
      </p:sp>
    </p:spTree>
    <p:extLst>
      <p:ext uri="{BB962C8B-B14F-4D97-AF65-F5344CB8AC3E}">
        <p14:creationId xmlns:p14="http://schemas.microsoft.com/office/powerpoint/2010/main" val="2181499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1F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172D63-35CD-4C46-86AB-E6799761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rPr>
              <a:t>MCP 연결 재사용과 관측 권한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7A681B-D7FA-4332-9A94-2D697E305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G075 김지원  ·  6/13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92562B-CE0D-4F35-A52B-AC4F1795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90625"/>
            <a:ext cx="1095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rPr>
              <a:t>Resource: 근거 규칙 문서  /  Tool: 현재 관측의 기억 검색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3D8FC1-6A0B-4BE3-BC20-CF0BD791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53750" cy="2847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F0F3E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F0F3E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0F3EF"/>
                </a:solidFill>
                <a:latin typeface="Menlo"/>
                <a:ea typeface="Menlo"/>
                <a:cs typeface="Menlo"/>
              </a:rPr>
              <a:t>registered = await call('register_context',</a:t>
            </a:r>
          </a:p>
          <a:p xmlns:a="http://schemas.openxmlformats.org/drawingml/2006/main">
            <a:pPr>
              <a:buNone/>
              <a:defRPr sz="1800" b="0">
                <a:solidFill>
                  <a:srgbClr val="F0F3E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0F3EF"/>
                </a:solidFill>
                <a:latin typeface="Menlo"/>
                <a:ea typeface="Menlo"/>
                <a:cs typeface="Menlo"/>
              </a:rPr>
              <a:t>    {'view': view, 'proof': signature(view, self.secret)})</a:t>
            </a:r>
          </a:p>
          <a:p xmlns:a="http://schemas.openxmlformats.org/drawingml/2006/main">
            <a:pPr>
              <a:buNone/>
              <a:defRPr sz="1800" b="0">
                <a:solidFill>
                  <a:srgbClr val="F0F3E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0F3EF"/>
                </a:solidFill>
                <a:latin typeface="Menlo"/>
                <a:ea typeface="Menlo"/>
                <a:cs typeface="Menlo"/>
              </a:rPr>
              <a:t>token = registered['capability']</a:t>
            </a:r>
          </a:p>
          <a:p xmlns:a="http://schemas.openxmlformats.org/drawingml/2006/main">
            <a:pPr>
              <a:buNone/>
              <a:defRPr sz="1800" b="0">
                <a:solidFill>
                  <a:srgbClr val="F0F3E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0F3EF"/>
                </a:solidFill>
                <a:latin typeface="Menlo"/>
                <a:ea typeface="Menlo"/>
                <a:cs typeface="Menlo"/>
              </a:rPr>
              <a:t>result = await call('search_memory',</a:t>
            </a:r>
          </a:p>
          <a:p xmlns:a="http://schemas.openxmlformats.org/drawingml/2006/main">
            <a:pPr>
              <a:buNone/>
              <a:defRPr sz="1800" b="0">
                <a:solidFill>
                  <a:srgbClr val="F0F3E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0F3EF"/>
                </a:solidFill>
                <a:latin typeface="Menlo"/>
                <a:ea typeface="Menlo"/>
                <a:cs typeface="Menlo"/>
              </a:rPr>
              <a:t>    {'capability': token, 'query': query or '',</a:t>
            </a:r>
          </a:p>
          <a:p xmlns:a="http://schemas.openxmlformats.org/drawingml/2006/main">
            <a:pPr>
              <a:buNone/>
              <a:defRPr sz="1800" b="0">
                <a:solidFill>
                  <a:srgbClr val="F0F3E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0F3EF"/>
                </a:solidFill>
                <a:latin typeface="Menlo"/>
                <a:ea typeface="Menlo"/>
                <a:cs typeface="Menlo"/>
              </a:rPr>
              <a:t>     'expanded': expanded})</a:t>
            </a:r>
          </a:p>
          <a:p xmlns:a="http://schemas.openxmlformats.org/drawingml/2006/main">
            <a:pPr>
              <a:buNone/>
              <a:defRPr sz="1800" b="0">
                <a:solidFill>
                  <a:srgbClr val="F0F3E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0F3EF"/>
                </a:solidFill>
                <a:latin typeface="Menlo"/>
                <a:ea typeface="Menlo"/>
                <a:cs typeface="Menlo"/>
              </a:rPr>
              <a:t># finally 블록에서 임시 관측 해제</a:t>
            </a:r>
          </a:p>
          <a:p xmlns:a="http://schemas.openxmlformats.org/drawingml/2006/main">
            <a:pPr>
              <a:buNone/>
              <a:defRPr sz="1800" b="0">
                <a:solidFill>
                  <a:srgbClr val="F0F3E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0F3EF"/>
                </a:solidFill>
                <a:latin typeface="Menlo"/>
                <a:ea typeface="Menlo"/>
                <a:cs typeface="Menlo"/>
              </a:rPr>
              <a:t>await call('release_context', {'capability': token})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295BA7-AEBD-4ACC-9026-7A4FA45B8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1095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8DCEC1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8DCEC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8DCEC1"/>
                </a:solidFill>
                <a:latin typeface="Apple SD Gothic Neo"/>
                <a:ea typeface="Apple SD Gothic Neo"/>
                <a:cs typeface="Apple SD Gothic Neo"/>
              </a:rPr>
              <a:t>권한 필터 → 서명 → 임시 capability → 검색 → 해제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A4A5D8-0E4B-4797-8360-FBEABD52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다른 참가자 ID를 지정해 비공개 기억을 조회하는 API를 제공하지 않음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861B04-5FD1-492D-9A21-8C1A5C2B3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game/mcp_memory.py · _serve 발췌, 주석·줄바꿈 보완</a:t>
            </a:r>
          </a:p>
        </p:txBody>
      </p:sp>
    </p:spTree>
    <p:extLst>
      <p:ext uri="{BB962C8B-B14F-4D97-AF65-F5344CB8AC3E}">
        <p14:creationId xmlns:p14="http://schemas.microsoft.com/office/powerpoint/2010/main" val="116725750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1F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8F475A-BBAD-4A75-8189-18F2CF0D7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rPr>
              <a:t>RAG: 게임 동의어·관련 표현 검색 보완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40E9A3-C54A-4A06-B359-026667AE7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G075 김지원  ·  7/13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0B3114-BF6E-49AA-8353-0C5EF4358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90625"/>
            <a:ext cx="1095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rPr>
              <a:t>9개 검색 개념으로 표현 연결 · 임베딩/벡터 DB 미사용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C52AB9-2354-4C7A-9E25-1C8695FE4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1095375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F0F3E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F0F3EF"/>
                </a:solidFill>
                <a:latin typeface="Menlo"/>
                <a:ea typeface="Menlo"/>
                <a:cs typeface="Menlo"/>
              </a:defRPr>
            </a:pPr>
            <a:r>
              <a:rPr sz="1950" b="0">
                <a:solidFill>
                  <a:srgbClr val="F0F3EF"/>
                </a:solidFill>
                <a:latin typeface="Menlo"/>
                <a:ea typeface="Menlo"/>
                <a:cs typeface="Menlo"/>
              </a:rPr>
              <a:t>def expanded_terms(text):</a:t>
            </a:r>
          </a:p>
          <a:p xmlns:a="http://schemas.openxmlformats.org/drawingml/2006/main">
            <a:pPr>
              <a:buNone/>
              <a:defRPr sz="1950" b="0">
                <a:solidFill>
                  <a:srgbClr val="F0F3EF"/>
                </a:solidFill>
                <a:latin typeface="Menlo"/>
                <a:ea typeface="Menlo"/>
                <a:cs typeface="Menlo"/>
              </a:defRPr>
            </a:pPr>
            <a:r>
              <a:rPr sz="1950" b="0">
                <a:solidFill>
                  <a:srgbClr val="F0F3EF"/>
                </a:solidFill>
                <a:latin typeface="Menlo"/>
                <a:ea typeface="Menlo"/>
                <a:cs typeface="Menlo"/>
              </a:rPr>
              <a:t>    return terms(text) + [</a:t>
            </a:r>
          </a:p>
          <a:p xmlns:a="http://schemas.openxmlformats.org/drawingml/2006/main">
            <a:pPr>
              <a:buNone/>
              <a:defRPr sz="1950" b="0">
                <a:solidFill>
                  <a:srgbClr val="F0F3EF"/>
                </a:solidFill>
                <a:latin typeface="Menlo"/>
                <a:ea typeface="Menlo"/>
                <a:cs typeface="Menlo"/>
              </a:defRPr>
            </a:pPr>
            <a:r>
              <a:rPr sz="1950" b="0">
                <a:solidFill>
                  <a:srgbClr val="F0F3EF"/>
                </a:solidFill>
                <a:latin typeface="Menlo"/>
                <a:ea typeface="Menlo"/>
                <a:cs typeface="Menlo"/>
              </a:rPr>
              <a:t>        "@concept:" + name for name in concepts(text)</a:t>
            </a:r>
          </a:p>
          <a:p xmlns:a="http://schemas.openxmlformats.org/drawingml/2006/main">
            <a:pPr>
              <a:buNone/>
              <a:defRPr sz="1950" b="0">
                <a:solidFill>
                  <a:srgbClr val="F0F3EF"/>
                </a:solidFill>
                <a:latin typeface="Menlo"/>
                <a:ea typeface="Menlo"/>
                <a:cs typeface="Menlo"/>
              </a:defRPr>
            </a:pPr>
            <a:r>
              <a:rPr sz="1950" b="0">
                <a:solidFill>
                  <a:srgbClr val="F0F3EF"/>
                </a:solidFill>
                <a:latin typeface="Menlo"/>
                <a:ea typeface="Menlo"/>
                <a:cs typeface="Menlo"/>
              </a:rPr>
              <a:t>    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A64270-80C7-4AA8-8E1D-8AF4D0D7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5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8DCEC1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8DCEC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8DCEC1"/>
                </a:solidFill>
                <a:latin typeface="Apple SD Gothic Neo"/>
                <a:ea typeface="Apple SD Gothic Neo"/>
                <a:cs typeface="Apple SD Gothic Neo"/>
              </a:rPr>
              <a:t>거짓말 ↔ 진술 모순    목격 ↔ 마주침    보호 ↔ 치료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789F4A-769D-4496-889A-2C723EA23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5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rPr>
              <a:t>관련 기록 검색에만 사용 · 원문·부정 표현·권한 필터 보존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956EB3-5BFE-45B3-9E22-3C53A1B05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1095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추가 모델 호출 없음 · 등록하지 않은 바꿔 말하기는 누락 가능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37BD6F-6170-473B-ACAF-DCE6C533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game/search_language.py · expanded_terms 발췌, 줄바꿈 조정. 검색 순위: game/memory.py</a:t>
            </a:r>
          </a:p>
        </p:txBody>
      </p:sp>
    </p:spTree>
    <p:extLst>
      <p:ext uri="{BB962C8B-B14F-4D97-AF65-F5344CB8AC3E}">
        <p14:creationId xmlns:p14="http://schemas.microsoft.com/office/powerpoint/2010/main" val="31983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1F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AF2967-729A-44E8-AEBE-BF7310654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rPr>
              <a:t>운영 모니터와 남은 한계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D70A7C-0EA9-4F5C-A4A4-C3FF4F491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G075 김지원  ·  8/13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EBF2E8-3265-45F5-88BC-94E8ADD88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rPr>
              <a:t>공통 자원 재사용, 개인 상태 분리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F419AC-6FEE-4227-8CFA-1D57794F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5048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rPr>
              <a:t>판단 → 규칙 적용 → DB 저장 추적</a:t>
            </a:r>
          </a:p>
          <a:p xmlns:a="http://schemas.openxmlformats.org/drawingml/2006/main">
            <a:pPr>
              <a:buNone/>
              <a:defRPr sz="2025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rPr>
              <a:t>공통 연결 재사용 · 유한 대기열</a:t>
            </a:r>
          </a:p>
          <a:p xmlns:a="http://schemas.openxmlformats.org/drawingml/2006/main">
            <a:pPr>
              <a:buNone/>
              <a:defRPr sz="2025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rPr>
              <a:t>Docker로 게임·MLflow 함께 실행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2B1E25-FB02-4C06-892E-ED3F0F21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5048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rPr>
              <a:t>가상환경·Docker 각각 211개 통과</a:t>
            </a:r>
          </a:p>
          <a:p xmlns:a="http://schemas.openxmlformats.org/drawingml/2006/main">
            <a:pPr>
              <a:buNone/>
              <a:defRPr sz="1950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rPr>
              <a:t>재시작 복원·MLflow 장애 격리 확인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3F2B4F-DF72-415B-B47F-E3CABAA64AF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1a0429646d43a8"/>
          <a:stretch xmlns:a="http://schemas.openxmlformats.org/drawingml/2006/main"/>
        </p:blipFill>
        <p:spPr>
          <a:xfrm xmlns:a="http://schemas.openxmlformats.org/drawingml/2006/main">
            <a:off x="6000750" y="1676102"/>
            <a:ext cx="5572124" cy="313432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8114DF-EDA4-48C5-B572-B804A8C5C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067300"/>
            <a:ext cx="5572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50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실제 OpenAI 7인 게임 · 행동 76건 적용·저장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946EF8-5C4B-46E5-BF05-4676ACCE0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rPr>
              <a:t>검증 강화는 수정 비용을 늘릴 수 있음 · 캐시는 실측 후 기본 비활성화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55F1AF-8278-4DD8-B82E-B8330A60A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이후 개선: 사람 검수 평가, 복잡한 표현, 여러 서버 운영</a:t>
            </a:r>
          </a:p>
        </p:txBody>
      </p:sp>
    </p:spTree>
    <p:extLst>
      <p:ext uri="{BB962C8B-B14F-4D97-AF65-F5344CB8AC3E}">
        <p14:creationId xmlns:p14="http://schemas.microsoft.com/office/powerpoint/2010/main" val="53439762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1F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34694D-D071-4D8E-A616-A62CE3B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G075 김지원  ·  9/13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22A87E-8ADA-4950-A115-F2FC5193B7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4440750cfa4d2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5A201D-3C0D-4CFA-9E03-72DE79277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이전 버전 실측 · 9/13</a:t>
            </a:r>
          </a:p>
        </p:txBody>
      </p:sp>
    </p:spTree>
    <p:extLst>
      <p:ext uri="{BB962C8B-B14F-4D97-AF65-F5344CB8AC3E}">
        <p14:creationId xmlns:p14="http://schemas.microsoft.com/office/powerpoint/2010/main" val="466158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01F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CC2D95-228B-4889-96FF-49D2EFBBD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rPr>
              <a:t>부록 · 기술 요소와 코드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A7FC04-E523-4259-9B0A-02FD18D7C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G075 김지원  ·  10/13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ECAF69-5DDD-45C8-99A6-EBD18C2AE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공개 저장소: github.com/xixvivji/deduction-game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A0D045-8A5F-4EA0-8160-4B787D8501FE}"/>
              </a:ext>
            </a:extLst>
          </p:cNvPr>
          <p:cNvGraphicFramePr/>
          <p:nvPr/>
        </p:nvGraphicFramePr>
        <p:xfrm>
          <a:off xmlns:a="http://schemas.openxmlformats.org/drawingml/2006/main" x="609600" y="1438275"/>
          <a:ext xmlns:a="http://schemas.openxmlformats.org/drawingml/2006/main" cx="10972800" cy="4286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38375"/>
                <a:gridCol w="5048250"/>
                <a:gridCol w="3686175"/>
              </a:tblGrid>
              <a:tr h="535781">
                <a:tc>
                  <a:txBody>
                    <a:bodyPr lIns="95250" tIns="95250" rIns="95250" bIns="95250"/>
                    <a:lstStyle/>
                    <a:p>
                      <a:r>
                        <a:rPr sz="1725" b="1">
                          <a:solidFill>
                            <a:srgbClr val="E2C28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기술 요소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45057"/>
                      </a:solidFill>
                      <a:prstDash val="solid"/>
                    </a:lnL>
                    <a:lnR w="9525">
                      <a:solidFill>
                        <a:srgbClr val="345057"/>
                      </a:solidFill>
                      <a:prstDash val="solid"/>
                    </a:lnR>
                    <a:lnT w="9525">
                      <a:solidFill>
                        <a:srgbClr val="345057"/>
                      </a:solidFill>
                      <a:prstDash val="solid"/>
                    </a:lnT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223A43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1">
                          <a:solidFill>
                            <a:srgbClr val="E2C28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적용 방식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T w="9525">
                      <a:solidFill>
                        <a:srgbClr val="345057"/>
                      </a:solidFill>
                      <a:prstDash val="solid"/>
                    </a:lnT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223A43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1">
                          <a:solidFill>
                            <a:srgbClr val="E2C28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대표 파일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T w="9525">
                      <a:solidFill>
                        <a:srgbClr val="345057"/>
                      </a:solidFill>
                      <a:prstDash val="solid"/>
                    </a:lnT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223A43"/>
                    </a:solidFill>
                  </a:tcPr>
                </a:tc>
              </a:tr>
              <a:tr h="535781"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Multi-Agent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45057"/>
                      </a:solidFill>
                      <a:prstDash val="solid"/>
                    </a:lnL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참가자별 관측·역할·판단 분리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server.py / beliefs.py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</a:tr>
              <a:tr h="535781"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MCP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45057"/>
                      </a:solidFill>
                      <a:prstDash val="solid"/>
                    </a:lnL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서명된 관측, 임시 capability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mcp_memory.py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</a:tr>
              <a:tr h="535781"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RAG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45057"/>
                      </a:solidFill>
                      <a:prstDash val="solid"/>
                    </a:lnL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어휘·개념 확장과 중요 기록 보존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memory.py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</a:tr>
              <a:tr h="535781"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DI·모듈화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45057"/>
                      </a:solidFill>
                      <a:prstDash val="solid"/>
                    </a:lnL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모델·검색 의존성 주입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decision.py / providers.py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</a:tr>
              <a:tr h="535781"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LangSmith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45057"/>
                      </a:solidFill>
                      <a:prstDash val="solid"/>
                    </a:lnL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노드·검색·모델 상세 추적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@traceable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</a:tr>
              <a:tr h="535781"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MLflow·운영 화면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45057"/>
                      </a:solidFill>
                      <a:prstDash val="solid"/>
                    </a:lnL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숫자 지표·실험 비교·실행 흐름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mlflow_tracking.py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</a:tr>
              <a:tr h="535781"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단위·통합 테스트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45057"/>
                      </a:solidFill>
                      <a:prstDash val="solid"/>
                    </a:lnL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권한·복구·오류·동시성 211개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F0F3E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tests/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45057"/>
                      </a:solidFill>
                      <a:prstDash val="solid"/>
                    </a:lnR>
                    <a:lnB w="9525">
                      <a:solidFill>
                        <a:srgbClr val="345057"/>
                      </a:solidFill>
                      <a:prstDash val="solid"/>
                    </a:lnB>
                    <a:solidFill>
                      <a:srgbClr val="101F2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250151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01F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CE932B-FC4C-4E8A-BA56-645DDC0A4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rPr>
              <a:t>부록 · AI 실행 흐름 화면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B20D2B-1596-47A7-BF1C-E5979880D8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a54802491a47d7"/>
          <a:stretch xmlns:a="http://schemas.openxmlformats.org/drawingml/2006/main"/>
        </p:blipFill>
        <p:spPr>
          <a:xfrm xmlns:a="http://schemas.openxmlformats.org/drawingml/2006/main">
            <a:off x="1964267" y="1257300"/>
            <a:ext cx="8263467" cy="46482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1DCB38-41EE-4F71-A0C8-6B387D588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실제 OpenAI · API 89회 · 기본 행동 대체 7건 · 한 판의 통합 연결 검증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358E9D-C9AA-4559-A474-A7F50581F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G075 김지원  ·  11/13</a:t>
            </a:r>
          </a:p>
        </p:txBody>
      </p:sp>
    </p:spTree>
    <p:extLst>
      <p:ext uri="{BB962C8B-B14F-4D97-AF65-F5344CB8AC3E}">
        <p14:creationId xmlns:p14="http://schemas.microsoft.com/office/powerpoint/2010/main" val="149756481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01F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143076-76D0-42A1-9F3B-A2B0B40A8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rPr>
              <a:t>부록 · MLflow에 저장한 실험 비교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C0D185-C2BE-4D87-BBD8-C7C657E6A1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ec3e6151844789"/>
          <a:stretch xmlns:a="http://schemas.openxmlformats.org/drawingml/2006/main"/>
        </p:blipFill>
        <p:spPr>
          <a:xfrm xmlns:a="http://schemas.openxmlformats.org/drawingml/2006/main">
            <a:off x="1964267" y="1257300"/>
            <a:ext cx="8263467" cy="46482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663546-6CFD-4E03-BEF4-8A6899A18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왼쪽 개선 / 오른쪽 이전 · 차이가 있는 지표만 표시 · 정상 오차단 3건은 동일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C153A9-EE1C-4C6E-A889-B9351A93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G075 김지원  ·  12/13</a:t>
            </a:r>
          </a:p>
        </p:txBody>
      </p:sp>
    </p:spTree>
    <p:extLst>
      <p:ext uri="{BB962C8B-B14F-4D97-AF65-F5344CB8AC3E}">
        <p14:creationId xmlns:p14="http://schemas.microsoft.com/office/powerpoint/2010/main" val="84541163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01F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1A75B2-6196-4219-BF82-F2FC7EFD3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15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F0F3EF"/>
                </a:solidFill>
                <a:latin typeface="Apple SD Gothic Neo"/>
                <a:ea typeface="Apple SD Gothic Neo"/>
                <a:cs typeface="Apple SD Gothic Neo"/>
              </a:rPr>
              <a:t>최종 화면 · 마을 탐색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D5D363-118B-4B5D-8DC6-4B4FF2A751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f2185c667b4149"/>
          <a:stretch xmlns:a="http://schemas.openxmlformats.org/drawingml/2006/main"/>
        </p:blipFill>
        <p:spPr>
          <a:xfrm xmlns:a="http://schemas.openxmlformats.org/drawingml/2006/main">
            <a:off x="611717" y="1438275"/>
            <a:ext cx="7806267" cy="4391025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87B311-3332-48F8-84E4-8C836088BB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348aa1746f4cfe"/>
          <a:stretch xmlns:a="http://schemas.openxmlformats.org/drawingml/2006/main"/>
        </p:blipFill>
        <p:spPr>
          <a:xfrm xmlns:a="http://schemas.openxmlformats.org/drawingml/2006/main">
            <a:off x="8915400" y="1241181"/>
            <a:ext cx="2286000" cy="4947138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7BE2CE-32C2-4729-B275-B76FB0CE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800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E2C28C"/>
                </a:solidFill>
                <a:latin typeface="Apple SD Gothic Neo"/>
                <a:ea typeface="Apple SD Gothic Neo"/>
                <a:cs typeface="Apple SD Gothic Neo"/>
              </a:rPr>
              <a:t>돌길·건물·조명과 캐릭터 표현 정리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5B3C7F-88BE-42E4-9368-23E7EA11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B9CECB"/>
                </a:solidFill>
                <a:latin typeface="Apple SD Gothic Neo"/>
                <a:ea typeface="Apple SD Gothic Neo"/>
                <a:cs typeface="Apple SD Gothic Neo"/>
              </a:rPr>
              <a:t>G075 김지원  ·  13/13  ·  규칙봇으로 화면·이동 점검</a:t>
            </a:r>
          </a:p>
        </p:txBody>
      </p:sp>
    </p:spTree>
    <p:extLst>
      <p:ext uri="{BB962C8B-B14F-4D97-AF65-F5344CB8AC3E}">
        <p14:creationId xmlns:p14="http://schemas.microsoft.com/office/powerpoint/2010/main" val="11881128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2026-10-22T00:49:25.5450000Z</dcterms:created>
  <dcterms:modified xsi:type="dcterms:W3CDTF">2026-10-22T00:49:25.5450000Z</dcterms:modified>
</coreProperties>
</file>